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85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83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34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31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33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4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3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814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79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60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365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085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26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094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156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89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58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A9FFB31-7615-4F33-BC85-E04C7B56503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C4FBF1-59E4-4373-B82D-9DD47FBBB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94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72D9BE-59A8-BB18-731A-5DC8590F01E0}"/>
              </a:ext>
            </a:extLst>
          </p:cNvPr>
          <p:cNvSpPr txBox="1"/>
          <p:nvPr/>
        </p:nvSpPr>
        <p:spPr>
          <a:xfrm>
            <a:off x="1356851" y="268972"/>
            <a:ext cx="4011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Edwardian Script ITC" panose="030303020407070D0804" pitchFamily="66" charset="0"/>
              </a:rPr>
              <a:t>Phishing</a:t>
            </a:r>
            <a:r>
              <a:rPr lang="en-IN" sz="96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C9B0D-D013-03A3-25CF-1347A891747E}"/>
              </a:ext>
            </a:extLst>
          </p:cNvPr>
          <p:cNvSpPr txBox="1"/>
          <p:nvPr/>
        </p:nvSpPr>
        <p:spPr>
          <a:xfrm>
            <a:off x="4316361" y="1956618"/>
            <a:ext cx="45523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Edwardian Script ITC" panose="030303020407070D0804" pitchFamily="66" charset="0"/>
              </a:rPr>
              <a:t>Awareness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B6364-9C44-3BE2-2E98-D06A1BFC7120}"/>
              </a:ext>
            </a:extLst>
          </p:cNvPr>
          <p:cNvSpPr txBox="1"/>
          <p:nvPr/>
        </p:nvSpPr>
        <p:spPr>
          <a:xfrm>
            <a:off x="6921910" y="4070554"/>
            <a:ext cx="41492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Edwardian Script ITC" panose="030303020407070D0804" pitchFamily="66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63039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46514-59D5-601B-2F7C-A5BB0341214E}"/>
              </a:ext>
            </a:extLst>
          </p:cNvPr>
          <p:cNvSpPr txBox="1"/>
          <p:nvPr/>
        </p:nvSpPr>
        <p:spPr>
          <a:xfrm>
            <a:off x="1907458" y="432619"/>
            <a:ext cx="8357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rgbClr val="002060"/>
                </a:solidFill>
              </a:rPr>
              <a:t>What Is Phishing?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D0CB8-8C52-8AE3-73D7-BF1E01F0D6C7}"/>
              </a:ext>
            </a:extLst>
          </p:cNvPr>
          <p:cNvSpPr txBox="1"/>
          <p:nvPr/>
        </p:nvSpPr>
        <p:spPr>
          <a:xfrm>
            <a:off x="599768" y="2212258"/>
            <a:ext cx="111104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Phishing is a cyberattack where attackers trick people into revealing sensitive information such as:</a:t>
            </a:r>
          </a:p>
          <a:p>
            <a:endParaRPr lang="en-IN" sz="2400" b="1" dirty="0">
              <a:solidFill>
                <a:srgbClr val="FF0000"/>
              </a:solidFill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Passwords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Credit card numbers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Bank details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solidFill>
                  <a:srgbClr val="FF0000"/>
                </a:solidFill>
              </a:rPr>
              <a:t>Company credentials</a:t>
            </a:r>
          </a:p>
          <a:p>
            <a:pPr lvl="0"/>
            <a:endParaRPr lang="en-IN" sz="2400" b="1" dirty="0">
              <a:solidFill>
                <a:srgbClr val="FF0000"/>
              </a:solidFill>
            </a:endParaRPr>
          </a:p>
          <a:p>
            <a:r>
              <a:rPr lang="en-IN" sz="2400" b="1" dirty="0">
                <a:solidFill>
                  <a:srgbClr val="FF0000"/>
                </a:solidFill>
              </a:rPr>
              <a:t>Attackers usually pretend to be trusted organizations (banks, IT support, delivery services, managers).</a:t>
            </a:r>
          </a:p>
        </p:txBody>
      </p:sp>
    </p:spTree>
    <p:extLst>
      <p:ext uri="{BB962C8B-B14F-4D97-AF65-F5344CB8AC3E}">
        <p14:creationId xmlns:p14="http://schemas.microsoft.com/office/powerpoint/2010/main" val="299657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C5E7B3-3241-EBFA-2058-A2C7B074C818}"/>
              </a:ext>
            </a:extLst>
          </p:cNvPr>
          <p:cNvSpPr txBox="1"/>
          <p:nvPr/>
        </p:nvSpPr>
        <p:spPr>
          <a:xfrm>
            <a:off x="1061884" y="432619"/>
            <a:ext cx="9694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Phishing Attacks</a:t>
            </a:r>
            <a:endParaRPr lang="en-IN" sz="4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7BB7F-CBC2-9FD6-9F1B-129F54D87D95}"/>
              </a:ext>
            </a:extLst>
          </p:cNvPr>
          <p:cNvSpPr txBox="1"/>
          <p:nvPr/>
        </p:nvSpPr>
        <p:spPr>
          <a:xfrm>
            <a:off x="4601496" y="2054942"/>
            <a:ext cx="5948517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Email Phishing</a:t>
            </a:r>
            <a:endParaRPr lang="en-IN" sz="4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Spear Phishing</a:t>
            </a:r>
            <a:endParaRPr lang="en-IN" sz="40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Whaling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Smishing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000" b="1" dirty="0"/>
              <a:t>Vishing</a:t>
            </a:r>
            <a:endParaRPr lang="en-IN" sz="4000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BD4537-A41D-A478-247D-4593D34FE374}"/>
              </a:ext>
            </a:extLst>
          </p:cNvPr>
          <p:cNvCxnSpPr>
            <a:cxnSpLocks/>
          </p:cNvCxnSpPr>
          <p:nvPr/>
        </p:nvCxnSpPr>
        <p:spPr>
          <a:xfrm>
            <a:off x="1061884" y="1504335"/>
            <a:ext cx="10382864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77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14E84-9442-D409-7792-4A18B08BCE71}"/>
              </a:ext>
            </a:extLst>
          </p:cNvPr>
          <p:cNvSpPr txBox="1"/>
          <p:nvPr/>
        </p:nvSpPr>
        <p:spPr>
          <a:xfrm>
            <a:off x="2708786" y="727587"/>
            <a:ext cx="6725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Email Phishing</a:t>
            </a:r>
            <a:endParaRPr lang="en-IN" sz="5400" dirty="0"/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69656B-E894-2EB3-24FC-A29B8FA74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917289"/>
            <a:ext cx="6508955" cy="30127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66CEB6-C313-791F-C3D5-71C58690986D}"/>
              </a:ext>
            </a:extLst>
          </p:cNvPr>
          <p:cNvSpPr txBox="1"/>
          <p:nvPr/>
        </p:nvSpPr>
        <p:spPr>
          <a:xfrm>
            <a:off x="914400" y="5309419"/>
            <a:ext cx="103140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dirty="0"/>
              <a:t>Fake emails asking you to click links or open attachments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28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5476E-BD97-19E8-C630-E200107007E4}"/>
              </a:ext>
            </a:extLst>
          </p:cNvPr>
          <p:cNvSpPr txBox="1"/>
          <p:nvPr/>
        </p:nvSpPr>
        <p:spPr>
          <a:xfrm>
            <a:off x="3195484" y="619432"/>
            <a:ext cx="5555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Spear Phishing</a:t>
            </a:r>
            <a:endParaRPr lang="en-IN" sz="5400" dirty="0"/>
          </a:p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E9E8D-B28B-C007-DA4D-C9C33843E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036" y="1897626"/>
            <a:ext cx="8492474" cy="304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9454F8-9AC3-76A4-2439-C52F78A21C60}"/>
              </a:ext>
            </a:extLst>
          </p:cNvPr>
          <p:cNvSpPr txBox="1"/>
          <p:nvPr/>
        </p:nvSpPr>
        <p:spPr>
          <a:xfrm>
            <a:off x="835742" y="5515897"/>
            <a:ext cx="10520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dirty="0"/>
              <a:t>Targeted attacks aimed at specific individuals or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694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58A7C6-D335-CE06-C624-2C89B0F4B946}"/>
              </a:ext>
            </a:extLst>
          </p:cNvPr>
          <p:cNvSpPr txBox="1"/>
          <p:nvPr/>
        </p:nvSpPr>
        <p:spPr>
          <a:xfrm>
            <a:off x="1465006" y="344129"/>
            <a:ext cx="91636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Whaling</a:t>
            </a:r>
          </a:p>
          <a:p>
            <a:pPr algn="ctr"/>
            <a:endParaRPr lang="en-IN" sz="5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0B62E-7A43-A3E7-D203-6497A8AD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4" y="1671484"/>
            <a:ext cx="7462682" cy="29595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6FB6C7-41F4-C4CE-02A3-8E7E6802B8CE}"/>
              </a:ext>
            </a:extLst>
          </p:cNvPr>
          <p:cNvSpPr txBox="1"/>
          <p:nvPr/>
        </p:nvSpPr>
        <p:spPr>
          <a:xfrm>
            <a:off x="757084" y="5319252"/>
            <a:ext cx="10953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dirty="0"/>
              <a:t>Phishing attacks targeting executives or senior management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597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965A70-9C05-3362-140B-5403AC145C40}"/>
              </a:ext>
            </a:extLst>
          </p:cNvPr>
          <p:cNvSpPr txBox="1"/>
          <p:nvPr/>
        </p:nvSpPr>
        <p:spPr>
          <a:xfrm>
            <a:off x="3667432" y="206477"/>
            <a:ext cx="5358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Smishing</a:t>
            </a:r>
            <a:r>
              <a:rPr lang="en-IN" b="1" dirty="0"/>
              <a:t>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BE3ED-5828-072C-3CFC-3D39F39F5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3" y="1406805"/>
            <a:ext cx="8632722" cy="2968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A152E5-BCA0-326C-7B6F-0D5B02018007}"/>
              </a:ext>
            </a:extLst>
          </p:cNvPr>
          <p:cNvSpPr txBox="1"/>
          <p:nvPr/>
        </p:nvSpPr>
        <p:spPr>
          <a:xfrm>
            <a:off x="924233" y="4899349"/>
            <a:ext cx="10205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Phishing via SMS is done</a:t>
            </a:r>
          </a:p>
        </p:txBody>
      </p:sp>
    </p:spTree>
    <p:extLst>
      <p:ext uri="{BB962C8B-B14F-4D97-AF65-F5344CB8AC3E}">
        <p14:creationId xmlns:p14="http://schemas.microsoft.com/office/powerpoint/2010/main" val="381858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B3677-B49A-31D4-E3E0-902098AFD576}"/>
              </a:ext>
            </a:extLst>
          </p:cNvPr>
          <p:cNvSpPr txBox="1"/>
          <p:nvPr/>
        </p:nvSpPr>
        <p:spPr>
          <a:xfrm>
            <a:off x="3392129" y="265471"/>
            <a:ext cx="512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Vishing</a:t>
            </a:r>
            <a:endParaRPr lang="en-IN" sz="5400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C14A80-0121-6E80-AEE4-DFC33F3809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071" y="1809135"/>
            <a:ext cx="7423355" cy="2762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DBFA6-AF09-C520-978F-1BAEDF119D0A}"/>
              </a:ext>
            </a:extLst>
          </p:cNvPr>
          <p:cNvSpPr txBox="1"/>
          <p:nvPr/>
        </p:nvSpPr>
        <p:spPr>
          <a:xfrm>
            <a:off x="1268361" y="5338916"/>
            <a:ext cx="873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Phishing via phone calls</a:t>
            </a:r>
          </a:p>
        </p:txBody>
      </p:sp>
    </p:spTree>
    <p:extLst>
      <p:ext uri="{BB962C8B-B14F-4D97-AF65-F5344CB8AC3E}">
        <p14:creationId xmlns:p14="http://schemas.microsoft.com/office/powerpoint/2010/main" val="27281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E1520-E131-0D19-753C-0ABE1EEE464D}"/>
              </a:ext>
            </a:extLst>
          </p:cNvPr>
          <p:cNvSpPr txBox="1"/>
          <p:nvPr/>
        </p:nvSpPr>
        <p:spPr>
          <a:xfrm>
            <a:off x="1012723" y="226142"/>
            <a:ext cx="94881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sz="3200" b="1" dirty="0">
                <a:solidFill>
                  <a:srgbClr val="002060"/>
                </a:solidFill>
              </a:rPr>
              <a:t>How to Recognize Phishing Emails and Fake Websites </a:t>
            </a:r>
            <a:endParaRPr lang="en-IN" sz="32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97D5D-38F1-A356-D7BD-269D34FF41E5}"/>
              </a:ext>
            </a:extLst>
          </p:cNvPr>
          <p:cNvSpPr txBox="1"/>
          <p:nvPr/>
        </p:nvSpPr>
        <p:spPr>
          <a:xfrm rot="10800000" flipH="1" flipV="1">
            <a:off x="1170039" y="1709638"/>
            <a:ext cx="104320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1. Sender Email Address Inspection</a:t>
            </a:r>
            <a:endParaRPr lang="en-IN" sz="2800" dirty="0"/>
          </a:p>
          <a:p>
            <a:r>
              <a:rPr lang="en-IN" sz="2800" dirty="0"/>
              <a:t>Attackers often spoof or slightly modify email addresses.</a:t>
            </a:r>
          </a:p>
          <a:p>
            <a:r>
              <a:rPr lang="en-IN" sz="2800" b="1" dirty="0"/>
              <a:t> Warning Signs:</a:t>
            </a:r>
            <a:endParaRPr lang="en-IN" sz="2800" dirty="0"/>
          </a:p>
          <a:p>
            <a:pPr lvl="0"/>
            <a:r>
              <a:rPr lang="en-IN" sz="2800" dirty="0"/>
              <a:t>Misspelled domains</a:t>
            </a:r>
          </a:p>
          <a:p>
            <a:pPr lvl="1"/>
            <a:r>
              <a:rPr lang="en-IN" sz="2800" dirty="0"/>
              <a:t>Example: support@paypa1.com instead of support@paypal.com</a:t>
            </a:r>
          </a:p>
          <a:p>
            <a:pPr lvl="0"/>
            <a:r>
              <a:rPr lang="en-IN" sz="2800" dirty="0"/>
              <a:t>Extra characters or unusual domains</a:t>
            </a:r>
          </a:p>
          <a:p>
            <a:pPr lvl="1"/>
            <a:r>
              <a:rPr lang="en-IN" sz="2800" dirty="0"/>
              <a:t>Example: @paypal-security.co or @secure-paypal.net</a:t>
            </a:r>
          </a:p>
          <a:p>
            <a:pPr lvl="0"/>
            <a:r>
              <a:rPr lang="en-IN" sz="2800" dirty="0"/>
              <a:t>Display name looks correct but email address is fake</a:t>
            </a:r>
          </a:p>
          <a:p>
            <a:r>
              <a:rPr lang="en-IN" sz="2800" dirty="0"/>
              <a:t> </a:t>
            </a:r>
            <a:r>
              <a:rPr lang="en-IN" sz="2800" b="1" dirty="0"/>
              <a:t>Tip:</a:t>
            </a:r>
            <a:r>
              <a:rPr lang="en-IN" sz="2800" dirty="0"/>
              <a:t> Always check the full email address, not just the display name.</a:t>
            </a:r>
          </a:p>
        </p:txBody>
      </p:sp>
    </p:spTree>
    <p:extLst>
      <p:ext uri="{BB962C8B-B14F-4D97-AF65-F5344CB8AC3E}">
        <p14:creationId xmlns:p14="http://schemas.microsoft.com/office/powerpoint/2010/main" val="306685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EC59E-3074-1658-288D-31D93DAB5BAD}"/>
              </a:ext>
            </a:extLst>
          </p:cNvPr>
          <p:cNvSpPr txBox="1"/>
          <p:nvPr/>
        </p:nvSpPr>
        <p:spPr>
          <a:xfrm>
            <a:off x="491613" y="688258"/>
            <a:ext cx="1111045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2. Urgent, Threatening, or Emotional Language</a:t>
            </a:r>
            <a:endParaRPr lang="en-IN" sz="2800" dirty="0"/>
          </a:p>
          <a:p>
            <a:r>
              <a:rPr lang="en-IN" sz="2800" dirty="0"/>
              <a:t>Phishers create panic to stop you from thinking.</a:t>
            </a:r>
          </a:p>
          <a:p>
            <a:r>
              <a:rPr lang="en-IN" sz="2800" dirty="0"/>
              <a:t>Examples:</a:t>
            </a:r>
          </a:p>
          <a:p>
            <a:pPr lvl="0"/>
            <a:r>
              <a:rPr lang="en-IN" sz="2800" dirty="0"/>
              <a:t>“Your account will be locked in 24 hours”</a:t>
            </a:r>
          </a:p>
          <a:p>
            <a:pPr lvl="0"/>
            <a:r>
              <a:rPr lang="en-IN" sz="2800" dirty="0"/>
              <a:t>“Immediate action required”</a:t>
            </a:r>
          </a:p>
          <a:p>
            <a:pPr lvl="0"/>
            <a:r>
              <a:rPr lang="en-IN" sz="2800" dirty="0"/>
              <a:t>“Suspicious activity detected”</a:t>
            </a:r>
          </a:p>
          <a:p>
            <a:r>
              <a:rPr lang="en-IN" sz="2800" dirty="0"/>
              <a:t> Real companies give notice and don’t pressure you immediately.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98DCA-27B9-8CDE-9334-5CE84D5A334F}"/>
              </a:ext>
            </a:extLst>
          </p:cNvPr>
          <p:cNvSpPr txBox="1"/>
          <p:nvPr/>
        </p:nvSpPr>
        <p:spPr>
          <a:xfrm>
            <a:off x="599768" y="4434348"/>
            <a:ext cx="11572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3. Generic or Unusual Greetings</a:t>
            </a:r>
            <a:endParaRPr lang="en-IN" sz="2800" dirty="0"/>
          </a:p>
          <a:p>
            <a:r>
              <a:rPr lang="en-IN" sz="2800" dirty="0"/>
              <a:t>Legitimate companies usually address you by name.</a:t>
            </a:r>
          </a:p>
          <a:p>
            <a:r>
              <a:rPr lang="en-IN" sz="2800" dirty="0"/>
              <a:t>🚩 Red Flags:</a:t>
            </a:r>
          </a:p>
          <a:p>
            <a:pPr lvl="0"/>
            <a:r>
              <a:rPr lang="en-IN" sz="2800" dirty="0"/>
              <a:t>“Dear Customer”</a:t>
            </a:r>
          </a:p>
          <a:p>
            <a:pPr lvl="0"/>
            <a:r>
              <a:rPr lang="en-IN" sz="2800" dirty="0"/>
              <a:t>“Dear User”</a:t>
            </a:r>
          </a:p>
        </p:txBody>
      </p:sp>
    </p:spTree>
    <p:extLst>
      <p:ext uri="{BB962C8B-B14F-4D97-AF65-F5344CB8AC3E}">
        <p14:creationId xmlns:p14="http://schemas.microsoft.com/office/powerpoint/2010/main" val="1304101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AACB1-F1AD-C0D4-8A38-ED5A1843064C}"/>
              </a:ext>
            </a:extLst>
          </p:cNvPr>
          <p:cNvSpPr txBox="1"/>
          <p:nvPr/>
        </p:nvSpPr>
        <p:spPr>
          <a:xfrm>
            <a:off x="806245" y="393290"/>
            <a:ext cx="10707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B050"/>
                </a:solidFill>
              </a:rPr>
              <a:t>Social Engineering Tactics Used by Attackers</a:t>
            </a:r>
            <a:endParaRPr lang="en-IN" sz="3600" dirty="0">
              <a:solidFill>
                <a:srgbClr val="00B050"/>
              </a:solidFill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B7520-5D82-E330-532F-DDD15E430EF6}"/>
              </a:ext>
            </a:extLst>
          </p:cNvPr>
          <p:cNvSpPr txBox="1"/>
          <p:nvPr/>
        </p:nvSpPr>
        <p:spPr>
          <a:xfrm>
            <a:off x="707923" y="1661652"/>
            <a:ext cx="1102196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Social engineering is the practice of </a:t>
            </a:r>
            <a:r>
              <a:rPr lang="en-IN" sz="2800" b="1" dirty="0"/>
              <a:t>manipulating people</a:t>
            </a:r>
            <a:r>
              <a:rPr lang="en-IN" sz="2800" dirty="0"/>
              <a:t> into giving up confidential information or performing actions that compromise security. Instead of hacking systems, attackers </a:t>
            </a:r>
            <a:r>
              <a:rPr lang="en-IN" sz="2800" b="1" dirty="0"/>
              <a:t>hack human </a:t>
            </a:r>
            <a:r>
              <a:rPr lang="en-IN" sz="2800" b="1" dirty="0" err="1"/>
              <a:t>behavior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33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E715C3-F6CE-378D-F358-7AA0DC3BA19E}"/>
              </a:ext>
            </a:extLst>
          </p:cNvPr>
          <p:cNvSpPr txBox="1"/>
          <p:nvPr/>
        </p:nvSpPr>
        <p:spPr>
          <a:xfrm>
            <a:off x="1032387" y="324465"/>
            <a:ext cx="96946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1. Authority</a:t>
            </a:r>
            <a:endParaRPr lang="en-IN" sz="2800" dirty="0"/>
          </a:p>
          <a:p>
            <a:r>
              <a:rPr lang="en-IN" sz="2800" dirty="0"/>
              <a:t>Attackers pretend to be someone in a position of power.</a:t>
            </a:r>
          </a:p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Impersonating managers, CEOs, IT staff, or government officials</a:t>
            </a:r>
          </a:p>
          <a:p>
            <a:pPr lvl="0"/>
            <a:r>
              <a:rPr lang="en-IN" sz="2800" dirty="0"/>
              <a:t>Using job titles, signatures, or logos to appear legitimate</a:t>
            </a:r>
          </a:p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“This is the IT department. Send your login credentials immediately to avoid account suspension.”</a:t>
            </a:r>
          </a:p>
          <a:p>
            <a:r>
              <a:rPr lang="en-IN" sz="2800" dirty="0"/>
              <a:t> Why It Works: People are conditioned to obey authority figures.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0013A0-AA38-7E59-B2C3-2F05CC2B1875}"/>
              </a:ext>
            </a:extLst>
          </p:cNvPr>
          <p:cNvSpPr txBox="1"/>
          <p:nvPr/>
        </p:nvSpPr>
        <p:spPr>
          <a:xfrm>
            <a:off x="1111045" y="4729316"/>
            <a:ext cx="1051068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2. Urgency</a:t>
            </a:r>
            <a:endParaRPr lang="en-IN" sz="2800" dirty="0"/>
          </a:p>
          <a:p>
            <a:r>
              <a:rPr lang="en-IN" sz="2800" dirty="0"/>
              <a:t>Attackers create time pressure to force quick decisions.</a:t>
            </a:r>
          </a:p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Threats of account suspension</a:t>
            </a:r>
          </a:p>
          <a:p>
            <a:pPr lvl="0"/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87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21F1A-9E7F-E9F7-0A33-A657B6D1E492}"/>
              </a:ext>
            </a:extLst>
          </p:cNvPr>
          <p:cNvSpPr txBox="1"/>
          <p:nvPr/>
        </p:nvSpPr>
        <p:spPr>
          <a:xfrm>
            <a:off x="973394" y="314632"/>
            <a:ext cx="999940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“Your account will be locked in 30 minutes if you don’t respond.”</a:t>
            </a:r>
          </a:p>
          <a:p>
            <a:r>
              <a:rPr lang="en-IN" sz="2800" dirty="0"/>
              <a:t> Why It Works: Panic reduces critical thinking.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231F3-AB86-9E27-A6E7-0AF5018962D5}"/>
              </a:ext>
            </a:extLst>
          </p:cNvPr>
          <p:cNvSpPr txBox="1"/>
          <p:nvPr/>
        </p:nvSpPr>
        <p:spPr>
          <a:xfrm>
            <a:off x="973394" y="2143432"/>
            <a:ext cx="1006823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3. Fear and Intimidation</a:t>
            </a:r>
            <a:endParaRPr lang="en-IN" sz="2800" dirty="0"/>
          </a:p>
          <a:p>
            <a:r>
              <a:rPr lang="en-IN" sz="2800" dirty="0"/>
              <a:t>Attackers scare victims into compliance.</a:t>
            </a:r>
          </a:p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Claiming suspicious activity</a:t>
            </a:r>
          </a:p>
          <a:p>
            <a:pPr lvl="0"/>
            <a:r>
              <a:rPr lang="en-IN" sz="2800" dirty="0"/>
              <a:t>Fake security alerts or legal threats</a:t>
            </a:r>
          </a:p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“We detected illegal activity on your account. Immediate action required.”</a:t>
            </a:r>
          </a:p>
          <a:p>
            <a:r>
              <a:rPr lang="en-IN" sz="2800" dirty="0"/>
              <a:t> Why It Works: Fear triggers impulsive reactions.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079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149EB4-A6F1-B2FE-73C9-926D90305625}"/>
              </a:ext>
            </a:extLst>
          </p:cNvPr>
          <p:cNvSpPr txBox="1"/>
          <p:nvPr/>
        </p:nvSpPr>
        <p:spPr>
          <a:xfrm>
            <a:off x="1455174" y="599768"/>
            <a:ext cx="91046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Scarcity</a:t>
            </a:r>
            <a:endParaRPr lang="en-IN" sz="2800" dirty="0"/>
          </a:p>
          <a:p>
            <a:r>
              <a:rPr lang="en-IN" sz="2800" dirty="0"/>
              <a:t>Attackers create a sense of limited availability.</a:t>
            </a:r>
          </a:p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Limited-time deals</a:t>
            </a:r>
          </a:p>
          <a:p>
            <a:pPr lvl="0"/>
            <a:r>
              <a:rPr lang="en-IN" sz="2800" dirty="0"/>
              <a:t>Threats of losing access or benefits</a:t>
            </a:r>
          </a:p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“Only 2 hours left to secure your account.”</a:t>
            </a:r>
          </a:p>
          <a:p>
            <a:r>
              <a:rPr lang="en-IN" sz="2800" dirty="0"/>
              <a:t> Why It Works: Scarcity increases perceived value and urgency.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87C5F-CF3C-E71E-078B-06949DA9AF5A}"/>
              </a:ext>
            </a:extLst>
          </p:cNvPr>
          <p:cNvSpPr txBox="1"/>
          <p:nvPr/>
        </p:nvSpPr>
        <p:spPr>
          <a:xfrm>
            <a:off x="1563329" y="4847085"/>
            <a:ext cx="82984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5. Impersonation</a:t>
            </a:r>
            <a:endParaRPr lang="en-IN" sz="2800" dirty="0"/>
          </a:p>
          <a:p>
            <a:r>
              <a:rPr lang="en-IN" sz="2800" dirty="0"/>
              <a:t>Attackers pretend to be someone legitimate.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85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92FB7-2D7B-59B6-5D36-B3804A8CF451}"/>
              </a:ext>
            </a:extLst>
          </p:cNvPr>
          <p:cNvSpPr txBox="1"/>
          <p:nvPr/>
        </p:nvSpPr>
        <p:spPr>
          <a:xfrm>
            <a:off x="1415845" y="511277"/>
            <a:ext cx="966511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Using fake email addresses, phone numbers, or websites</a:t>
            </a:r>
          </a:p>
          <a:p>
            <a:pPr lvl="0"/>
            <a:r>
              <a:rPr lang="en-IN" sz="2800" dirty="0"/>
              <a:t>Spoofing caller ID or company branding</a:t>
            </a:r>
          </a:p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“This is your bank’s fraud department.”</a:t>
            </a:r>
          </a:p>
          <a:p>
            <a:r>
              <a:rPr lang="en-IN" sz="2800" dirty="0"/>
              <a:t> Why It Works: Visual and verbal cues create credibility.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3521DB-F17B-C088-A46B-D59E5EA41114}"/>
              </a:ext>
            </a:extLst>
          </p:cNvPr>
          <p:cNvSpPr txBox="1"/>
          <p:nvPr/>
        </p:nvSpPr>
        <p:spPr>
          <a:xfrm>
            <a:off x="1415845" y="3637935"/>
            <a:ext cx="927182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6. Pretexting</a:t>
            </a:r>
            <a:endParaRPr lang="en-IN" sz="2800" dirty="0"/>
          </a:p>
          <a:p>
            <a:r>
              <a:rPr lang="en-IN" sz="2800" dirty="0"/>
              <a:t>Attackers create a believable story to extract information.</a:t>
            </a:r>
          </a:p>
          <a:p>
            <a:r>
              <a:rPr lang="en-IN" sz="2800" b="1" dirty="0"/>
              <a:t>How It Works:</a:t>
            </a:r>
            <a:endParaRPr lang="en-IN" sz="2800" dirty="0"/>
          </a:p>
          <a:p>
            <a:pPr lvl="0"/>
            <a:r>
              <a:rPr lang="en-IN" sz="2800" dirty="0"/>
              <a:t>Fake scenarios (audits, emergencies, troubleshooting)</a:t>
            </a:r>
          </a:p>
          <a:p>
            <a:pPr lvl="0"/>
            <a:r>
              <a:rPr lang="en-IN" sz="2800" dirty="0"/>
              <a:t>Gradual information gathering</a:t>
            </a:r>
          </a:p>
          <a:p>
            <a:r>
              <a:rPr lang="en-IN" sz="2800" b="1" dirty="0"/>
              <a:t>Example:</a:t>
            </a:r>
            <a:endParaRPr lang="en-IN" sz="2800" dirty="0"/>
          </a:p>
          <a:p>
            <a:r>
              <a:rPr lang="en-IN" sz="2800" dirty="0"/>
              <a:t>“I’m a vendor doing a system check. Can you confirm your 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049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7DF09-6346-35FA-07F9-3C89F3098AC7}"/>
              </a:ext>
            </a:extLst>
          </p:cNvPr>
          <p:cNvSpPr txBox="1"/>
          <p:nvPr/>
        </p:nvSpPr>
        <p:spPr>
          <a:xfrm>
            <a:off x="2340077" y="334297"/>
            <a:ext cx="74528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dirty="0">
                <a:solidFill>
                  <a:srgbClr val="00B050"/>
                </a:solidFill>
              </a:rPr>
              <a:t>Best practices and tips to avoid falling victim in detail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0EAA0-2CDF-228D-F93C-A619D482E2E6}"/>
              </a:ext>
            </a:extLst>
          </p:cNvPr>
          <p:cNvSpPr txBox="1"/>
          <p:nvPr/>
        </p:nvSpPr>
        <p:spPr>
          <a:xfrm>
            <a:off x="2340077" y="1811625"/>
            <a:ext cx="880970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1. Think Before You Click</a:t>
            </a:r>
            <a:endParaRPr lang="en-IN" sz="2800" dirty="0"/>
          </a:p>
          <a:p>
            <a:r>
              <a:rPr lang="en-IN" sz="2800" dirty="0"/>
              <a:t>Attackers rely on quick, emotional reactions.</a:t>
            </a:r>
          </a:p>
          <a:p>
            <a:r>
              <a:rPr lang="en-IN" sz="2800" b="1" dirty="0"/>
              <a:t>Best Practices:</a:t>
            </a:r>
            <a:endParaRPr lang="en-IN" sz="2800" dirty="0"/>
          </a:p>
          <a:p>
            <a:pPr lvl="0"/>
            <a:r>
              <a:rPr lang="en-IN" sz="2800" dirty="0"/>
              <a:t>Pause and </a:t>
            </a:r>
            <a:r>
              <a:rPr lang="en-IN" sz="2800" dirty="0" err="1"/>
              <a:t>analyze</a:t>
            </a:r>
            <a:r>
              <a:rPr lang="en-IN" sz="2800" dirty="0"/>
              <a:t> every unexpected message</a:t>
            </a:r>
          </a:p>
          <a:p>
            <a:pPr lvl="0"/>
            <a:r>
              <a:rPr lang="en-IN" sz="2800" dirty="0"/>
              <a:t>Be suspicious of urgent or threatening language</a:t>
            </a:r>
          </a:p>
          <a:p>
            <a:pPr lvl="0"/>
            <a:r>
              <a:rPr lang="en-IN" sz="2800" dirty="0"/>
              <a:t>Ask yourself: </a:t>
            </a:r>
            <a:r>
              <a:rPr lang="en-IN" sz="2800" i="1" dirty="0"/>
              <a:t>Was I expecting this message?</a:t>
            </a:r>
            <a:endParaRPr lang="en-IN" sz="2800" dirty="0"/>
          </a:p>
          <a:p>
            <a:r>
              <a:rPr lang="en-IN" sz="2800" dirty="0"/>
              <a:t>Slowing down is one of the strongest </a:t>
            </a:r>
            <a:r>
              <a:rPr lang="en-IN" sz="2800" dirty="0" err="1"/>
              <a:t>defenses</a:t>
            </a:r>
            <a:r>
              <a:rPr lang="en-IN" sz="2800" dirty="0"/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1392A-F99E-7FE0-926E-6A4B03AA0F97}"/>
              </a:ext>
            </a:extLst>
          </p:cNvPr>
          <p:cNvSpPr txBox="1"/>
          <p:nvPr/>
        </p:nvSpPr>
        <p:spPr>
          <a:xfrm>
            <a:off x="2340077" y="5289755"/>
            <a:ext cx="7737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2. Verify the Sender’s Identity</a:t>
            </a:r>
            <a:endParaRPr lang="en-IN" sz="2800" dirty="0"/>
          </a:p>
          <a:p>
            <a:r>
              <a:rPr lang="en-IN" sz="2800" dirty="0"/>
              <a:t>Never trust an email or message at face value.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23047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487FCC-46AE-CE98-AB25-1410468266D2}"/>
              </a:ext>
            </a:extLst>
          </p:cNvPr>
          <p:cNvSpPr txBox="1"/>
          <p:nvPr/>
        </p:nvSpPr>
        <p:spPr>
          <a:xfrm>
            <a:off x="1769806" y="324465"/>
            <a:ext cx="86032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Best Practices:</a:t>
            </a:r>
            <a:endParaRPr lang="en-IN" sz="2800" dirty="0"/>
          </a:p>
          <a:p>
            <a:pPr lvl="0"/>
            <a:r>
              <a:rPr lang="en-IN" sz="2800" dirty="0"/>
              <a:t>Check the full email address, not just the display name</a:t>
            </a:r>
          </a:p>
          <a:p>
            <a:pPr lvl="0"/>
            <a:r>
              <a:rPr lang="en-IN" sz="2800" dirty="0"/>
              <a:t>Verify requests by contacting the sender through a known, official channel</a:t>
            </a:r>
          </a:p>
          <a:p>
            <a:pPr lvl="0"/>
            <a:r>
              <a:rPr lang="en-IN" sz="2800" dirty="0"/>
              <a:t>Be cautious of emails from external or unfamiliar domains</a:t>
            </a:r>
          </a:p>
          <a:p>
            <a:r>
              <a:rPr lang="en-IN" sz="2800" dirty="0"/>
              <a:t> Internal requests for sensitive data should always be verified.</a:t>
            </a:r>
          </a:p>
          <a:p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F2AC59-E90D-EF4E-7A4C-4CA59999254C}"/>
              </a:ext>
            </a:extLst>
          </p:cNvPr>
          <p:cNvSpPr txBox="1"/>
          <p:nvPr/>
        </p:nvSpPr>
        <p:spPr>
          <a:xfrm>
            <a:off x="1868129" y="3657600"/>
            <a:ext cx="82787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3. Never Share Sensitive Information</a:t>
            </a:r>
            <a:endParaRPr lang="en-IN" sz="2800" dirty="0"/>
          </a:p>
          <a:p>
            <a:r>
              <a:rPr lang="en-IN" sz="2800" dirty="0"/>
              <a:t>Legitimate organizations will </a:t>
            </a:r>
            <a:r>
              <a:rPr lang="en-IN" sz="2800" b="1" dirty="0"/>
              <a:t>never ask</a:t>
            </a:r>
            <a:r>
              <a:rPr lang="en-IN" sz="2800" dirty="0"/>
              <a:t> for this data via email or phone.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83423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95F19-FBCC-0A76-0A0A-3863E1EAB421}"/>
              </a:ext>
            </a:extLst>
          </p:cNvPr>
          <p:cNvSpPr txBox="1"/>
          <p:nvPr/>
        </p:nvSpPr>
        <p:spPr>
          <a:xfrm>
            <a:off x="1759974" y="403123"/>
            <a:ext cx="8780207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Never Share: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Passwords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One-time passwords (OTP)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PINs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Full credit card or bank details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Security question answers</a:t>
            </a:r>
          </a:p>
          <a:p>
            <a:r>
              <a:rPr lang="en-IN" sz="2800" dirty="0"/>
              <a:t>If someone asks for these, it’s a scam.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86569-DBE8-2572-206A-A4E1D229EFD9}"/>
              </a:ext>
            </a:extLst>
          </p:cNvPr>
          <p:cNvSpPr txBox="1"/>
          <p:nvPr/>
        </p:nvSpPr>
        <p:spPr>
          <a:xfrm>
            <a:off x="1858297" y="4237703"/>
            <a:ext cx="86818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4. Use Strong, Unique Passwords</a:t>
            </a:r>
            <a:endParaRPr lang="en-IN" sz="2800" dirty="0"/>
          </a:p>
          <a:p>
            <a:r>
              <a:rPr lang="en-IN" sz="2800" dirty="0"/>
              <a:t>Weak or reused passwords increase risk.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6381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1DAEB-702C-E342-3453-60F7AE4E0B1F}"/>
              </a:ext>
            </a:extLst>
          </p:cNvPr>
          <p:cNvSpPr txBox="1"/>
          <p:nvPr/>
        </p:nvSpPr>
        <p:spPr>
          <a:xfrm>
            <a:off x="1641987" y="1700981"/>
            <a:ext cx="897685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Best Practices:</a:t>
            </a:r>
            <a:endParaRPr lang="en-IN" sz="2800" dirty="0"/>
          </a:p>
          <a:p>
            <a:pPr lvl="0"/>
            <a:r>
              <a:rPr lang="en-IN" sz="2800" dirty="0"/>
              <a:t>Use long passwords (12–16 characters minimum)</a:t>
            </a:r>
          </a:p>
          <a:p>
            <a:pPr lvl="0"/>
            <a:r>
              <a:rPr lang="en-IN" sz="2800" dirty="0"/>
              <a:t>Combine uppercase, lowercase, numbers, and symbols</a:t>
            </a:r>
          </a:p>
          <a:p>
            <a:pPr lvl="0"/>
            <a:r>
              <a:rPr lang="en-IN" sz="2800" dirty="0"/>
              <a:t>Never reuse passwords across multiple accounts</a:t>
            </a:r>
          </a:p>
          <a:p>
            <a:pPr lvl="0"/>
            <a:r>
              <a:rPr lang="en-IN" sz="2800" dirty="0"/>
              <a:t>Use a reputable password manager</a:t>
            </a:r>
          </a:p>
          <a:p>
            <a:r>
              <a:rPr lang="en-IN" sz="2800" dirty="0"/>
              <a:t> One compromised password should not expose all accounts.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4008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E0672F-80E8-CE8B-2BEC-0A9ACDA37B76}"/>
              </a:ext>
            </a:extLst>
          </p:cNvPr>
          <p:cNvSpPr txBox="1"/>
          <p:nvPr/>
        </p:nvSpPr>
        <p:spPr>
          <a:xfrm>
            <a:off x="1533832" y="383458"/>
            <a:ext cx="957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00B050"/>
                </a:solidFill>
              </a:rPr>
              <a:t>Real-world phishing examples</a:t>
            </a:r>
            <a:r>
              <a:rPr lang="en-IN" sz="360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5EED6-FBA1-AE93-1D59-303DD3A7AF5D}"/>
              </a:ext>
            </a:extLst>
          </p:cNvPr>
          <p:cNvSpPr txBox="1"/>
          <p:nvPr/>
        </p:nvSpPr>
        <p:spPr>
          <a:xfrm>
            <a:off x="1671484" y="1720645"/>
            <a:ext cx="95766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Example 1. Fake Bank Alert Email</a:t>
            </a:r>
            <a:endParaRPr lang="en-IN" sz="2400" dirty="0"/>
          </a:p>
          <a:p>
            <a:r>
              <a:rPr lang="en-IN" sz="2400" b="1" dirty="0"/>
              <a:t>Email Subject:</a:t>
            </a:r>
            <a:r>
              <a:rPr lang="en-IN" sz="2400" dirty="0"/>
              <a:t> </a:t>
            </a:r>
            <a:r>
              <a:rPr lang="en-IN" sz="2400" i="1" dirty="0"/>
              <a:t>Urgent: Unusual Activity Detected</a:t>
            </a:r>
            <a:endParaRPr lang="en-IN" sz="2400" dirty="0"/>
          </a:p>
          <a:p>
            <a:r>
              <a:rPr lang="en-IN" sz="2400" b="1" dirty="0"/>
              <a:t>Message Content:</a:t>
            </a:r>
            <a:endParaRPr lang="en-IN" sz="2400" dirty="0"/>
          </a:p>
          <a:p>
            <a:r>
              <a:rPr lang="en-IN" sz="2400" dirty="0"/>
              <a:t>“We detected suspicious activity on your account. Please click the link below to verify your identity or your account will be suspended.”</a:t>
            </a:r>
          </a:p>
          <a:p>
            <a:r>
              <a:rPr lang="en-IN" sz="2400" dirty="0"/>
              <a:t> Link: https://secure-bankverify-login.com</a:t>
            </a:r>
          </a:p>
          <a:p>
            <a:r>
              <a:rPr lang="en-IN" sz="2400" b="1" dirty="0"/>
              <a:t> Red Flags:</a:t>
            </a:r>
            <a:endParaRPr lang="en-IN" sz="2400" dirty="0"/>
          </a:p>
          <a:p>
            <a:pPr lvl="0"/>
            <a:r>
              <a:rPr lang="en-IN" sz="2400" dirty="0"/>
              <a:t>Urgent and threatening language</a:t>
            </a:r>
          </a:p>
          <a:p>
            <a:pPr lvl="0"/>
            <a:r>
              <a:rPr lang="en-IN" sz="2400" dirty="0"/>
              <a:t>Suspicious link domain</a:t>
            </a:r>
          </a:p>
          <a:p>
            <a:pPr lvl="0"/>
            <a:r>
              <a:rPr lang="en-IN" sz="2400" dirty="0"/>
              <a:t>Request to verify sensitive information</a:t>
            </a:r>
          </a:p>
          <a:p>
            <a:r>
              <a:rPr lang="en-IN" sz="2400" dirty="0"/>
              <a:t> </a:t>
            </a:r>
            <a:r>
              <a:rPr lang="en-IN" sz="2400" b="1" dirty="0"/>
              <a:t>Correct Action:</a:t>
            </a:r>
            <a:r>
              <a:rPr lang="en-IN" sz="2400" dirty="0"/>
              <a:t> Do not click. Visit the bank’s official website manually or call customer support.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93100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7A25CE-892A-C875-7725-CFE9A93E4CEB}"/>
              </a:ext>
            </a:extLst>
          </p:cNvPr>
          <p:cNvSpPr txBox="1"/>
          <p:nvPr/>
        </p:nvSpPr>
        <p:spPr>
          <a:xfrm>
            <a:off x="1632154" y="442452"/>
            <a:ext cx="979292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Example 2: CEO Fraud (Business Email Compromise)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Email From:</a:t>
            </a:r>
            <a:r>
              <a:rPr lang="en-IN" sz="2800" dirty="0"/>
              <a:t> “CEO Name” (spoofed address)</a:t>
            </a:r>
          </a:p>
          <a:p>
            <a:r>
              <a:rPr lang="en-IN" sz="2800" b="1" dirty="0"/>
              <a:t>Message Content:</a:t>
            </a:r>
            <a:endParaRPr lang="en-IN" sz="2800" dirty="0"/>
          </a:p>
          <a:p>
            <a:r>
              <a:rPr lang="en-IN" sz="2800" dirty="0"/>
              <a:t>“I’m in a meeting. Need you to urgently purchase gift cards and send me the codes.”</a:t>
            </a:r>
          </a:p>
          <a:p>
            <a:r>
              <a:rPr lang="en-IN" sz="2800" b="1" dirty="0"/>
              <a:t> Red Flags:</a:t>
            </a:r>
            <a:endParaRPr lang="en-IN" sz="2800" dirty="0"/>
          </a:p>
          <a:p>
            <a:pPr lvl="0"/>
            <a:r>
              <a:rPr lang="en-IN" sz="2800" dirty="0"/>
              <a:t>Urgent request</a:t>
            </a:r>
          </a:p>
          <a:p>
            <a:pPr lvl="0"/>
            <a:r>
              <a:rPr lang="en-IN" sz="2800" dirty="0"/>
              <a:t>Unusual payment method</a:t>
            </a:r>
          </a:p>
          <a:p>
            <a:pPr lvl="0"/>
            <a:r>
              <a:rPr lang="en-IN" sz="2800" dirty="0"/>
              <a:t>Request for secrecy</a:t>
            </a:r>
          </a:p>
          <a:p>
            <a:pPr lvl="0"/>
            <a:r>
              <a:rPr lang="en-IN" sz="2800" dirty="0"/>
              <a:t>Authority pressure</a:t>
            </a:r>
          </a:p>
          <a:p>
            <a:r>
              <a:rPr lang="en-IN" sz="2800" b="1" dirty="0"/>
              <a:t>Correct Action:</a:t>
            </a:r>
            <a:r>
              <a:rPr lang="en-IN" sz="2800" dirty="0"/>
              <a:t> Verify through a phone call or internal messaging system.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8045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693A81-699D-62CA-D12C-9132AEDE3258}"/>
              </a:ext>
            </a:extLst>
          </p:cNvPr>
          <p:cNvSpPr txBox="1"/>
          <p:nvPr/>
        </p:nvSpPr>
        <p:spPr>
          <a:xfrm>
            <a:off x="1376516" y="344129"/>
            <a:ext cx="989125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Example 3: Fake Delivery Notification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dirty="0"/>
              <a:t>Email Subject:</a:t>
            </a:r>
            <a:r>
              <a:rPr lang="en-IN" sz="2800" dirty="0"/>
              <a:t> </a:t>
            </a:r>
            <a:r>
              <a:rPr lang="en-IN" sz="2800" i="1" dirty="0"/>
              <a:t>Your Package Is On Hold</a:t>
            </a:r>
            <a:endParaRPr lang="en-IN" sz="2800" dirty="0"/>
          </a:p>
          <a:p>
            <a:r>
              <a:rPr lang="en-IN" sz="2800" b="1" dirty="0"/>
              <a:t>Message Content:</a:t>
            </a:r>
            <a:endParaRPr lang="en-IN" sz="2800" dirty="0"/>
          </a:p>
          <a:p>
            <a:r>
              <a:rPr lang="en-IN" sz="2800" dirty="0"/>
              <a:t>“Your package could not be delivered. Open the attached invoice to reschedule.”</a:t>
            </a:r>
          </a:p>
          <a:p>
            <a:r>
              <a:rPr lang="en-IN" sz="2800" dirty="0"/>
              <a:t> Attachment: Delivery_Invoice.zip</a:t>
            </a:r>
          </a:p>
          <a:p>
            <a:r>
              <a:rPr lang="en-IN" sz="2800" b="1" dirty="0"/>
              <a:t> Red Flags:</a:t>
            </a:r>
            <a:endParaRPr lang="en-IN" sz="2800" dirty="0"/>
          </a:p>
          <a:p>
            <a:pPr lvl="0"/>
            <a:r>
              <a:rPr lang="en-IN" sz="2800" dirty="0"/>
              <a:t>Unexpected attachment</a:t>
            </a:r>
          </a:p>
          <a:p>
            <a:pPr lvl="0"/>
            <a:r>
              <a:rPr lang="en-IN" sz="2800" dirty="0"/>
              <a:t>ZIP file (common malware carrier)</a:t>
            </a:r>
          </a:p>
          <a:p>
            <a:pPr lvl="0"/>
            <a:r>
              <a:rPr lang="en-IN" sz="2800" dirty="0"/>
              <a:t>No tracking number or sender verification</a:t>
            </a:r>
          </a:p>
          <a:p>
            <a:r>
              <a:rPr lang="en-IN" sz="2800" dirty="0"/>
              <a:t> </a:t>
            </a:r>
            <a:r>
              <a:rPr lang="en-IN" sz="2800" b="1" dirty="0"/>
              <a:t>Correct Action:</a:t>
            </a:r>
            <a:r>
              <a:rPr lang="en-IN" sz="2800" dirty="0"/>
              <a:t> Delete the email and track deliveries only through official courier websites.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12460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396CF-2AA8-ED42-9631-9382D6DE0281}"/>
              </a:ext>
            </a:extLst>
          </p:cNvPr>
          <p:cNvSpPr txBox="1"/>
          <p:nvPr/>
        </p:nvSpPr>
        <p:spPr>
          <a:xfrm>
            <a:off x="2900516" y="324465"/>
            <a:ext cx="6823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b="1">
                <a:solidFill>
                  <a:srgbClr val="00B050"/>
                </a:solidFill>
              </a:rPr>
              <a:t>Interactive Quiz (For Engagement)</a:t>
            </a:r>
            <a:endParaRPr lang="en-IN" sz="360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75B74-FDCE-96C7-469E-8A11B271D744}"/>
              </a:ext>
            </a:extLst>
          </p:cNvPr>
          <p:cNvSpPr txBox="1"/>
          <p:nvPr/>
        </p:nvSpPr>
        <p:spPr>
          <a:xfrm>
            <a:off x="1592826" y="2005781"/>
            <a:ext cx="79051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Quiz 1: Identify the Phishing Sign</a:t>
            </a:r>
            <a:endParaRPr lang="en-IN" sz="2800" dirty="0"/>
          </a:p>
          <a:p>
            <a:r>
              <a:rPr lang="en-IN" sz="2800" b="1" dirty="0"/>
              <a:t>Which of the following is a strong phishing indicator?</a:t>
            </a:r>
            <a:endParaRPr lang="en-IN" sz="2800" dirty="0"/>
          </a:p>
          <a:p>
            <a:r>
              <a:rPr lang="en-IN" sz="2800" dirty="0"/>
              <a:t>A. Personalized email greeting</a:t>
            </a:r>
            <a:br>
              <a:rPr lang="en-IN" sz="2800" dirty="0"/>
            </a:br>
            <a:r>
              <a:rPr lang="en-IN" sz="2800" dirty="0"/>
              <a:t>B. Proper grammar</a:t>
            </a:r>
            <a:br>
              <a:rPr lang="en-IN" sz="2800" dirty="0"/>
            </a:br>
            <a:r>
              <a:rPr lang="en-IN" sz="2800" dirty="0"/>
              <a:t>C. Urgent demand for action</a:t>
            </a:r>
            <a:br>
              <a:rPr lang="en-IN" sz="2800" dirty="0"/>
            </a:br>
            <a:r>
              <a:rPr lang="en-IN" sz="2800" dirty="0"/>
              <a:t>D. Known sender</a:t>
            </a:r>
          </a:p>
          <a:p>
            <a:r>
              <a:rPr lang="en-IN" sz="2800" dirty="0"/>
              <a:t>✅ </a:t>
            </a:r>
            <a:r>
              <a:rPr lang="en-IN" sz="2800" b="1" dirty="0"/>
              <a:t>Correct Answer:</a:t>
            </a:r>
            <a:r>
              <a:rPr lang="en-IN" sz="2800" dirty="0"/>
              <a:t> C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45339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EE8C9-8617-307C-0B53-52A35A0C4ECD}"/>
              </a:ext>
            </a:extLst>
          </p:cNvPr>
          <p:cNvSpPr txBox="1"/>
          <p:nvPr/>
        </p:nvSpPr>
        <p:spPr>
          <a:xfrm>
            <a:off x="1671483" y="294968"/>
            <a:ext cx="9783097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Quiz 2: Safe or Unsafe?</a:t>
            </a:r>
            <a:endParaRPr lang="en-IN" sz="2400" dirty="0"/>
          </a:p>
          <a:p>
            <a:r>
              <a:rPr lang="en-IN" sz="2400" dirty="0"/>
              <a:t>You receive an email from IT asking you to confirm your password.</a:t>
            </a:r>
          </a:p>
          <a:p>
            <a:r>
              <a:rPr lang="en-IN" sz="2400" dirty="0"/>
              <a:t>A. Safe</a:t>
            </a:r>
            <a:br>
              <a:rPr lang="en-IN" sz="2400" dirty="0"/>
            </a:br>
            <a:r>
              <a:rPr lang="en-IN" sz="2400" dirty="0"/>
              <a:t>B. Unsafe</a:t>
            </a:r>
          </a:p>
          <a:p>
            <a:r>
              <a:rPr lang="en-IN" sz="2400" dirty="0"/>
              <a:t>✅ </a:t>
            </a:r>
            <a:r>
              <a:rPr lang="en-IN" sz="2400" b="1" dirty="0"/>
              <a:t>Correct Answer:</a:t>
            </a:r>
            <a:r>
              <a:rPr lang="en-IN" sz="2400" dirty="0"/>
              <a:t> B</a:t>
            </a:r>
            <a:br>
              <a:rPr lang="en-IN" sz="2400" dirty="0"/>
            </a:br>
            <a:r>
              <a:rPr lang="en-IN" sz="2400" b="1" dirty="0"/>
              <a:t>Explanation:</a:t>
            </a:r>
            <a:r>
              <a:rPr lang="en-IN" sz="2400" dirty="0"/>
              <a:t> IT will never ask for passwords via email.</a:t>
            </a:r>
          </a:p>
          <a:p>
            <a:br>
              <a:rPr lang="en-IN" sz="2400" dirty="0"/>
            </a:br>
            <a:endParaRPr lang="en-IN" sz="2400" dirty="0"/>
          </a:p>
          <a:p>
            <a:r>
              <a:rPr lang="en-IN" sz="2400" b="1" dirty="0"/>
              <a:t>Quiz 3: Link Inspection</a:t>
            </a:r>
            <a:endParaRPr lang="en-IN" sz="2400" dirty="0"/>
          </a:p>
          <a:p>
            <a:r>
              <a:rPr lang="en-IN" sz="2400" dirty="0"/>
              <a:t>You hover over a link that shows:</a:t>
            </a:r>
            <a:br>
              <a:rPr lang="en-IN" sz="2400" dirty="0"/>
            </a:br>
            <a:r>
              <a:rPr lang="en-IN" sz="2400" dirty="0"/>
              <a:t>https://paypal.account-security-update.com</a:t>
            </a:r>
          </a:p>
          <a:p>
            <a:r>
              <a:rPr lang="en-IN" sz="2400" dirty="0"/>
              <a:t>Is this legitimate?</a:t>
            </a:r>
          </a:p>
          <a:p>
            <a:r>
              <a:rPr lang="en-IN" sz="2400" dirty="0"/>
              <a:t>A. Yes</a:t>
            </a:r>
            <a:br>
              <a:rPr lang="en-IN" sz="2400" dirty="0"/>
            </a:br>
            <a:r>
              <a:rPr lang="en-IN" sz="2400" dirty="0"/>
              <a:t>B. No</a:t>
            </a:r>
          </a:p>
          <a:p>
            <a:r>
              <a:rPr lang="en-IN" sz="2400" dirty="0"/>
              <a:t>✅ </a:t>
            </a:r>
            <a:r>
              <a:rPr lang="en-IN" sz="2400" b="1" dirty="0"/>
              <a:t>Correct Answer:</a:t>
            </a:r>
            <a:r>
              <a:rPr lang="en-IN" sz="2400" dirty="0"/>
              <a:t> B</a:t>
            </a:r>
            <a:br>
              <a:rPr lang="en-IN" sz="2400" dirty="0"/>
            </a:br>
            <a:r>
              <a:rPr lang="en-IN" sz="2400" b="1" dirty="0"/>
              <a:t>Explanation:</a:t>
            </a:r>
            <a:r>
              <a:rPr lang="en-IN" sz="2400" dirty="0"/>
              <a:t> The real domain is account-security-update.com, not PayPal.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5111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2634D0-0183-FBA4-479C-4A9FDE3D3E13}"/>
              </a:ext>
            </a:extLst>
          </p:cNvPr>
          <p:cNvSpPr txBox="1"/>
          <p:nvPr/>
        </p:nvSpPr>
        <p:spPr>
          <a:xfrm>
            <a:off x="1533832" y="412955"/>
            <a:ext cx="9419303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Quiz 4: What Should You Do?</a:t>
            </a:r>
            <a:endParaRPr lang="en-IN" sz="2400" dirty="0"/>
          </a:p>
          <a:p>
            <a:r>
              <a:rPr lang="en-IN" sz="2400" dirty="0"/>
              <a:t>You accidentally clicked a phishing link but didn’t enter information.</a:t>
            </a:r>
          </a:p>
          <a:p>
            <a:r>
              <a:rPr lang="en-IN" sz="2400" dirty="0"/>
              <a:t>A. Ignore it</a:t>
            </a:r>
            <a:br>
              <a:rPr lang="en-IN" sz="2400" dirty="0"/>
            </a:br>
            <a:r>
              <a:rPr lang="en-IN" sz="2400" dirty="0"/>
              <a:t>B. Restart computer</a:t>
            </a:r>
            <a:br>
              <a:rPr lang="en-IN" sz="2400" dirty="0"/>
            </a:br>
            <a:r>
              <a:rPr lang="en-IN" sz="2400" dirty="0"/>
              <a:t>C. Report to IT/security</a:t>
            </a:r>
            <a:br>
              <a:rPr lang="en-IN" sz="2400" dirty="0"/>
            </a:br>
            <a:r>
              <a:rPr lang="en-IN" sz="2400" dirty="0"/>
              <a:t>D. Forward to friends</a:t>
            </a:r>
          </a:p>
          <a:p>
            <a:r>
              <a:rPr lang="en-IN" sz="2400" dirty="0"/>
              <a:t>✅ </a:t>
            </a:r>
            <a:r>
              <a:rPr lang="en-IN" sz="2400" b="1" dirty="0"/>
              <a:t>Correct Answer:</a:t>
            </a:r>
            <a:r>
              <a:rPr lang="en-IN" sz="2400" dirty="0"/>
              <a:t> C</a:t>
            </a:r>
          </a:p>
          <a:p>
            <a:br>
              <a:rPr lang="en-IN" sz="2400" dirty="0"/>
            </a:br>
            <a:endParaRPr lang="en-IN" sz="2400" dirty="0"/>
          </a:p>
          <a:p>
            <a:r>
              <a:rPr lang="en-IN" sz="2400" b="1" dirty="0"/>
              <a:t>Quiz 5: Choose the Best Response</a:t>
            </a:r>
            <a:endParaRPr lang="en-IN" sz="2400" dirty="0"/>
          </a:p>
          <a:p>
            <a:r>
              <a:rPr lang="en-IN" sz="2400" dirty="0"/>
              <a:t>Your “manager” texts you asking for an OTP code urgently.</a:t>
            </a:r>
          </a:p>
          <a:p>
            <a:r>
              <a:rPr lang="en-IN" sz="2400" dirty="0"/>
              <a:t>A. Share the OTP</a:t>
            </a:r>
            <a:br>
              <a:rPr lang="en-IN" sz="2400" dirty="0"/>
            </a:br>
            <a:r>
              <a:rPr lang="en-IN" sz="2400" dirty="0"/>
              <a:t>B. Ask for confirmation via another channel</a:t>
            </a:r>
            <a:br>
              <a:rPr lang="en-IN" sz="2400" dirty="0"/>
            </a:br>
            <a:r>
              <a:rPr lang="en-IN" sz="2400" dirty="0"/>
              <a:t>C. Ignore company policy</a:t>
            </a:r>
            <a:br>
              <a:rPr lang="en-IN" sz="2400" dirty="0"/>
            </a:br>
            <a:r>
              <a:rPr lang="en-IN" sz="2400" dirty="0"/>
              <a:t>D. Respond immediately</a:t>
            </a:r>
          </a:p>
          <a:p>
            <a:r>
              <a:rPr lang="en-IN" sz="2400" dirty="0"/>
              <a:t>✅ </a:t>
            </a:r>
            <a:r>
              <a:rPr lang="en-IN" sz="2400" b="1" dirty="0"/>
              <a:t>Correct Answer:</a:t>
            </a:r>
            <a:r>
              <a:rPr lang="en-IN" sz="2400" dirty="0"/>
              <a:t> B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2564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BF5E8-C1F6-CDEF-7C9C-D2ED4A599B1A}"/>
              </a:ext>
            </a:extLst>
          </p:cNvPr>
          <p:cNvSpPr txBox="1"/>
          <p:nvPr/>
        </p:nvSpPr>
        <p:spPr>
          <a:xfrm rot="20632145">
            <a:off x="908746" y="2232649"/>
            <a:ext cx="99628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b="1" dirty="0">
                <a:solidFill>
                  <a:srgbClr val="002060"/>
                </a:solidFill>
                <a:latin typeface="Edwardian Script ITC" panose="030303020407070D0804" pitchFamily="66" charset="0"/>
              </a:rPr>
              <a:t>Thank You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93D7C-3A91-6AB1-248D-F8D26DE30105}"/>
              </a:ext>
            </a:extLst>
          </p:cNvPr>
          <p:cNvSpPr txBox="1"/>
          <p:nvPr/>
        </p:nvSpPr>
        <p:spPr>
          <a:xfrm>
            <a:off x="6990735" y="4768645"/>
            <a:ext cx="4444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  <a:latin typeface="Edwardian Script ITC" panose="030303020407070D0804" pitchFamily="66" charset="0"/>
              </a:rPr>
              <a:t>By: Rushali Rathod</a:t>
            </a:r>
          </a:p>
        </p:txBody>
      </p:sp>
    </p:spTree>
    <p:extLst>
      <p:ext uri="{BB962C8B-B14F-4D97-AF65-F5344CB8AC3E}">
        <p14:creationId xmlns:p14="http://schemas.microsoft.com/office/powerpoint/2010/main" val="4106439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118</TotalTime>
  <Words>1322</Words>
  <Application>Microsoft Office PowerPoint</Application>
  <PresentationFormat>Widescreen</PresentationFormat>
  <Paragraphs>188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Corbel</vt:lpstr>
      <vt:lpstr>Edwardian Script ITC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rushalir04@gmail.com</dc:creator>
  <cp:lastModifiedBy>rushalir04@gmail.com</cp:lastModifiedBy>
  <cp:revision>2</cp:revision>
  <dcterms:created xsi:type="dcterms:W3CDTF">2026-01-08T07:22:30Z</dcterms:created>
  <dcterms:modified xsi:type="dcterms:W3CDTF">2026-01-08T09:21:29Z</dcterms:modified>
</cp:coreProperties>
</file>